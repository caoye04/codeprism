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64" r:id="rId7"/>
    <p:sldId id="282" r:id="rId8"/>
    <p:sldId id="265" r:id="rId9"/>
    <p:sldId id="266" r:id="rId10"/>
    <p:sldId id="267" r:id="rId11"/>
    <p:sldId id="268" r:id="rId12"/>
    <p:sldId id="270" r:id="rId13"/>
    <p:sldId id="272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57" autoAdjust="0"/>
    <p:restoredTop sz="94660"/>
  </p:normalViewPr>
  <p:slideViewPr>
    <p:cSldViewPr snapToGrid="0">
      <p:cViewPr>
        <p:scale>
          <a:sx n="50" d="100"/>
          <a:sy n="50" d="100"/>
        </p:scale>
        <p:origin x="1152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782AC-835B-D49C-0101-19FA71846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32BC5C-8207-66E1-1DA0-FEEAD812C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A64EF-8378-34CF-DC10-23E3B882B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BCEE8-3345-AB28-9F29-3A1AB501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340B1-16A9-D06D-FC56-0241E2CE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74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8A8FE-AB59-3F96-CED3-0581913E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62011-EAA8-6995-48D7-71A0C39BE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F1656-FF70-3451-2A92-B4B57E2F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018E4C-24CA-E420-B3B2-3EECF74A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4DC6E5-F6A3-ADFA-F674-BBE902EC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87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5C5667-9BB7-4FDD-3266-C78A5EB1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1D6B3F-8C78-FD72-C5AB-DE6700AC1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B520EA-F867-056E-1409-9863B709A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AC21E3-21F6-3EC6-1BFC-B1F0F6E8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4C364-B3B6-1B67-91A6-7752C52A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1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CD4AF-AB4B-93CB-BD1A-E5E24F8A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DCEF4-1919-76A1-2571-9E756C6DA7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34B64B-F300-830F-E984-2763FC65E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CBC7C4-1CA7-2429-C4AA-A6738C33F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013AC4-93EA-72C0-0458-84DB8548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99562-EFFB-54AC-5101-746F2AD1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4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96A99B-C782-4A8D-05F9-B45A8269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7A1B17-69C0-8F8B-83E3-F1167C547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10A737-AC0C-977B-B547-28E7E64FE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F2015B-070B-0A82-C646-72BFDC0A9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E26510-3F37-6F9E-F1A9-57DC147EB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E72B9A-A4C9-1A19-E605-F4D0EB6D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E6E127-9CD8-0171-F200-1C74962E8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6CC0EF-9D2E-A8F1-F225-FA0F441A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20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46245-634C-1709-AA74-AFF338AC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10012-3AE5-8B89-41C6-00146E26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2FA35A-4223-0C39-33E7-6E4850E8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449595-9FB9-4A0C-2C8A-EAAC2E0C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61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6318B-B33A-9E30-84EE-FE244594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276A8B-437B-76D7-C6A1-B665292E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E0802E-2B16-DD16-B8BD-430A8785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92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29A58-9873-259E-2CCE-5E1A0C71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9F9D4E-0B46-09D6-3B04-66653C6B6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C22A8-9CDC-8214-9DEB-463FE4E0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C18D23-FBD3-3EC3-420F-7762BE0D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199465-CE93-9DA4-BA1C-8C38BBF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82E39E-974D-2950-8B73-9BF85080E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00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C969B-07E1-E700-D001-1E1FEF5D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9C896B-74F4-AD79-75B2-BACC1087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9A0EC9-FBC5-ADCD-2B03-364050D5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678A3D-313F-D858-8BF0-A265D1440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AF7F6B-956E-3898-D867-6BF19BE8F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F3F259-C34E-9855-B18C-F9F9F58F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1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A48B1-0B5A-E061-4271-22BAAEF44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99B2C6-9DDF-6C7E-231C-D350EE534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D6B7F4-7FC0-AF75-C6E8-F26B63C99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A0B16F-1B02-6A52-2162-C857F71C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9E270-E628-0E70-8901-8BCA29A3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04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8D5B46-4BF7-F990-47B1-FE220A66E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BA6626-5C64-1259-EB62-A32591B54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8C2263-2F4C-090E-5332-4C3C66B3C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F480B5-1894-9B6F-2B2E-FA20E06E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97C7E0-981C-375A-5CA7-D4A2B269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74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D67978-BC40-C3EA-E8EB-FAF0BC48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C1980-A32E-C0C7-0516-C01FD255D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ED3FD-5569-FEFE-1EDF-4F69CC41E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29A1A-F3F7-4624-8FDA-13D02F2F363D}" type="datetimeFigureOut">
              <a:rPr lang="zh-CN" altLang="en-US" smtClean="0"/>
              <a:t>2025/11/23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214B64-1A78-AA03-FBB7-58153ED8B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E36354-685F-5E0A-313D-29B75E2D2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9F378-55CA-4071-B334-B4751E997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67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asycompute.cs.tsinghua.edu.cn/home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95CA611-642A-A53C-5762-471901B52ECC}"/>
              </a:ext>
            </a:extLst>
          </p:cNvPr>
          <p:cNvSpPr/>
          <p:nvPr/>
        </p:nvSpPr>
        <p:spPr>
          <a:xfrm>
            <a:off x="-381000" y="-317500"/>
            <a:ext cx="13214350" cy="7442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1843CC-6426-CEC7-E189-63DA69FD0EEC}"/>
              </a:ext>
            </a:extLst>
          </p:cNvPr>
          <p:cNvSpPr txBox="1"/>
          <p:nvPr/>
        </p:nvSpPr>
        <p:spPr>
          <a:xfrm>
            <a:off x="1371599" y="1052425"/>
            <a:ext cx="10268310" cy="352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系统工程探究实践项目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代码规范检查智能助手</a:t>
            </a:r>
            <a:endParaRPr lang="en-US" altLang="zh-CN" sz="4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459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D3E8-7E92-8C94-50F2-DCFBE8C1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75C4C6E-C2A4-227C-9C3E-B7F21C5E4BE8}"/>
              </a:ext>
            </a:extLst>
          </p:cNvPr>
          <p:cNvSpPr/>
          <p:nvPr/>
        </p:nvSpPr>
        <p:spPr>
          <a:xfrm>
            <a:off x="-6350" y="0"/>
            <a:ext cx="12192000" cy="3727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7DB161F-3243-D295-FE2F-CBDE8E84DED4}"/>
              </a:ext>
            </a:extLst>
          </p:cNvPr>
          <p:cNvSpPr txBox="1"/>
          <p:nvPr/>
        </p:nvSpPr>
        <p:spPr>
          <a:xfrm>
            <a:off x="1142999" y="-342900"/>
            <a:ext cx="10268310" cy="352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系统工程探究实践项目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代码规范检查智能助手</a:t>
            </a:r>
            <a:endParaRPr lang="en-US" altLang="zh-CN" sz="4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B18936-1B16-BB51-200F-E57EE1410385}"/>
              </a:ext>
            </a:extLst>
          </p:cNvPr>
          <p:cNvSpPr txBox="1"/>
          <p:nvPr/>
        </p:nvSpPr>
        <p:spPr>
          <a:xfrm>
            <a:off x="135656" y="4712641"/>
            <a:ext cx="119206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便捷示例系统</a:t>
            </a:r>
            <a:r>
              <a:rPr lang="en-US" altLang="zh-CN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 — </a:t>
            </a:r>
            <a:r>
              <a:rPr lang="en-US" altLang="zh-CN" sz="6600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Code Prism</a:t>
            </a:r>
            <a:endParaRPr lang="en-US" altLang="zh-CN" sz="4400" b="1" dirty="0">
              <a:solidFill>
                <a:schemeClr val="bg1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04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6DC51-DD22-3EDC-25DD-A6DE49E4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38710D-6E28-E9C4-910E-479D9422B245}"/>
              </a:ext>
            </a:extLst>
          </p:cNvPr>
          <p:cNvSpPr txBox="1"/>
          <p:nvPr/>
        </p:nvSpPr>
        <p:spPr>
          <a:xfrm>
            <a:off x="365125" y="31721"/>
            <a:ext cx="1720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目录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3E0ED0-9E8B-324D-3C83-B6EE0DBB6E6F}"/>
              </a:ext>
            </a:extLst>
          </p:cNvPr>
          <p:cNvSpPr txBox="1"/>
          <p:nvPr/>
        </p:nvSpPr>
        <p:spPr>
          <a:xfrm>
            <a:off x="365125" y="1440840"/>
            <a:ext cx="11601450" cy="4421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>
                <a:sym typeface="+mn-ea"/>
              </a:rPr>
              <a:t>环境配置与 </a:t>
            </a:r>
            <a:r>
              <a:rPr lang="en-US" altLang="zh-CN" sz="2400" dirty="0">
                <a:sym typeface="+mn-ea"/>
              </a:rPr>
              <a:t>AI API key </a:t>
            </a:r>
            <a:r>
              <a:rPr lang="zh-CN" altLang="en-US" sz="2400" dirty="0">
                <a:sym typeface="+mn-ea"/>
              </a:rPr>
              <a:t>获取</a:t>
            </a:r>
            <a:endParaRPr lang="en-US" altLang="zh-CN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FontTx/>
              <a:buAutoNum type="arabicPeriod"/>
            </a:pPr>
            <a:r>
              <a:rPr lang="zh-CN" altLang="en-US" sz="2400" dirty="0">
                <a:sym typeface="+mn-ea"/>
              </a:rPr>
              <a:t>示例系统的“基本功能介绍”</a:t>
            </a:r>
            <a:endParaRPr lang="en-US" altLang="zh-CN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示例系统的“代码框架介绍”</a:t>
            </a:r>
            <a:endParaRPr lang="en-US" altLang="zh-CN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三步需求点的思路与建议（</a:t>
            </a:r>
            <a:r>
              <a:rPr lang="en-US" altLang="zh-CN" sz="2400" dirty="0">
                <a:sym typeface="+mn-ea"/>
              </a:rPr>
              <a:t>Prompt + RAG + Agent</a:t>
            </a:r>
            <a:r>
              <a:rPr lang="zh-CN" altLang="en-US" sz="2400" dirty="0">
                <a:sym typeface="+mn-ea"/>
              </a:rPr>
              <a:t>）</a:t>
            </a:r>
            <a:endParaRPr lang="en-US" altLang="zh-CN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个性化建议</a:t>
            </a:r>
            <a:endParaRPr lang="en-US" altLang="zh-CN" sz="2400" dirty="0">
              <a:sym typeface="+mn-ea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ym typeface="+mn-ea"/>
              </a:rPr>
              <a:t>作业要求</a:t>
            </a:r>
            <a:endParaRPr lang="zh-CN" altLang="en-US" sz="24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6485604-389C-9817-BED9-3E4C143DFE88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2973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9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6C43-4F1B-99CA-2982-40C10E9D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080CB2-7222-D805-A2C6-46A7B6824879}"/>
              </a:ext>
            </a:extLst>
          </p:cNvPr>
          <p:cNvSpPr txBox="1"/>
          <p:nvPr/>
        </p:nvSpPr>
        <p:spPr>
          <a:xfrm>
            <a:off x="365125" y="31721"/>
            <a:ext cx="7151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环境配置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——VSCode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DC9ACB1-4ACA-F295-739B-FA5ACC867B6B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76947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6AFFBB5-494D-383B-ECC7-88EBCD1AF4B8}"/>
              </a:ext>
            </a:extLst>
          </p:cNvPr>
          <p:cNvSpPr txBox="1"/>
          <p:nvPr/>
        </p:nvSpPr>
        <p:spPr>
          <a:xfrm>
            <a:off x="187475" y="1035566"/>
            <a:ext cx="118170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VSCode</a:t>
            </a:r>
          </a:p>
          <a:p>
            <a:pPr>
              <a:lnSpc>
                <a:spcPct val="200000"/>
              </a:lnSpc>
            </a:pPr>
            <a:r>
              <a:rPr lang="zh-CN" altLang="en-US" sz="2000" dirty="0"/>
              <a:t>是一款</a:t>
            </a:r>
            <a:r>
              <a:rPr lang="zh-CN" altLang="en-US" sz="2000" b="1" dirty="0"/>
              <a:t>轻量级</a:t>
            </a:r>
            <a:r>
              <a:rPr lang="zh-CN" altLang="en-US" sz="2000" dirty="0"/>
              <a:t>的</a:t>
            </a:r>
            <a:r>
              <a:rPr lang="zh-CN" altLang="en-US" sz="2000" b="1" dirty="0"/>
              <a:t>代码编辑器</a:t>
            </a:r>
            <a:r>
              <a:rPr lang="zh-CN" altLang="en-US" sz="2000" dirty="0"/>
              <a:t>，可以通过安装各种各样不同</a:t>
            </a:r>
            <a:r>
              <a:rPr lang="zh-CN" altLang="en-US" sz="2000" b="1" dirty="0"/>
              <a:t>扩展</a:t>
            </a:r>
            <a:r>
              <a:rPr lang="zh-CN" altLang="en-US" sz="2000" dirty="0"/>
              <a:t>的方式来实现开发者所需要的功能。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dirty="0"/>
              <a:t>具体操作：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打开 </a:t>
            </a:r>
            <a:r>
              <a:rPr lang="en-US" altLang="zh-CN" dirty="0"/>
              <a:t>VSCode </a:t>
            </a:r>
            <a:r>
              <a:rPr lang="zh-CN" altLang="en-US" dirty="0"/>
              <a:t>官网：</a:t>
            </a:r>
            <a:r>
              <a:rPr lang="en-US" altLang="zh-CN" dirty="0"/>
              <a:t>https://code.visualstudio.com/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点击大大的 </a:t>
            </a:r>
            <a:r>
              <a:rPr lang="en-US" altLang="zh-CN" dirty="0"/>
              <a:t>Download </a:t>
            </a:r>
            <a:r>
              <a:rPr lang="zh-CN" altLang="en-US" dirty="0"/>
              <a:t>按钮（如果是 </a:t>
            </a:r>
            <a:r>
              <a:rPr lang="en-US" altLang="zh-CN" dirty="0"/>
              <a:t>Windows 64 </a:t>
            </a:r>
            <a:r>
              <a:rPr lang="zh-CN" altLang="en-US" dirty="0"/>
              <a:t>位用户可以点击下拉框选择 </a:t>
            </a:r>
            <a:r>
              <a:rPr lang="en-US" altLang="zh-CN" dirty="0" err="1"/>
              <a:t>x64</a:t>
            </a:r>
            <a:r>
              <a:rPr lang="en-US" altLang="zh-CN" dirty="0"/>
              <a:t> </a:t>
            </a:r>
            <a:r>
              <a:rPr lang="zh-CN" altLang="en-US" dirty="0"/>
              <a:t>安装包版本）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进行安装或解压缩（注意路径中不能存在任何中文字符，推荐仅用字母和数字）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4. </a:t>
            </a:r>
            <a:r>
              <a:rPr lang="zh-CN" altLang="en-US" dirty="0"/>
              <a:t>到你安装 </a:t>
            </a:r>
            <a:r>
              <a:rPr lang="en-US" altLang="zh-CN" dirty="0"/>
              <a:t>VSCode </a:t>
            </a:r>
            <a:r>
              <a:rPr lang="zh-CN" altLang="en-US" dirty="0"/>
              <a:t>的目录下，新建 </a:t>
            </a:r>
            <a:r>
              <a:rPr lang="en-US" altLang="zh-CN" dirty="0"/>
              <a:t>data </a:t>
            </a:r>
            <a:r>
              <a:rPr lang="zh-CN" altLang="en-US" dirty="0"/>
              <a:t>文件夹</a:t>
            </a:r>
            <a:endParaRPr lang="en-US" altLang="zh-CN" dirty="0"/>
          </a:p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   |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这里我们新建 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data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 文件夹后，之后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VSCode 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运行时的扩展插件和用户数据便都会存放在 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data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 文件夹下，这样可以在一定程度上避免系统盘容量占用的问题。如果不新建 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data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 文件夹，那么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VSCode 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会将上述插件和用户信息存放在系统盘的用户目录下。 </a:t>
            </a:r>
          </a:p>
        </p:txBody>
      </p:sp>
    </p:spTree>
    <p:extLst>
      <p:ext uri="{BB962C8B-B14F-4D97-AF65-F5344CB8AC3E}">
        <p14:creationId xmlns:p14="http://schemas.microsoft.com/office/powerpoint/2010/main" val="56778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C103-71B4-0FF5-973C-BF962E80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E90647-C830-E984-F8C1-0492D5D698CA}"/>
              </a:ext>
            </a:extLst>
          </p:cNvPr>
          <p:cNvSpPr txBox="1"/>
          <p:nvPr/>
        </p:nvSpPr>
        <p:spPr>
          <a:xfrm>
            <a:off x="365125" y="31721"/>
            <a:ext cx="7151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环境配置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——Python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C452D15-E89E-4A1B-B3BD-E21F9042BEEE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7694762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431C2BB-A308-E8C0-E10E-96341D467DE4}"/>
              </a:ext>
            </a:extLst>
          </p:cNvPr>
          <p:cNvSpPr txBox="1"/>
          <p:nvPr/>
        </p:nvSpPr>
        <p:spPr>
          <a:xfrm>
            <a:off x="279491" y="1282856"/>
            <a:ext cx="11817050" cy="364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Python</a:t>
            </a:r>
            <a:r>
              <a:rPr lang="en-US" altLang="zh-CN" sz="2000" dirty="0"/>
              <a:t> : </a:t>
            </a:r>
            <a:r>
              <a:rPr lang="zh-CN" altLang="en-US" sz="2000" dirty="0"/>
              <a:t>一种流行的</a:t>
            </a:r>
            <a:r>
              <a:rPr lang="zh-CN" altLang="en-US" sz="2000" b="1" dirty="0"/>
              <a:t>编程语言</a:t>
            </a:r>
            <a:endParaRPr lang="en-US" altLang="zh-CN" sz="2400" b="1" dirty="0"/>
          </a:p>
          <a:p>
            <a:pPr>
              <a:lnSpc>
                <a:spcPct val="200000"/>
              </a:lnSpc>
            </a:pPr>
            <a:r>
              <a:rPr lang="zh-CN" altLang="en-US" dirty="0"/>
              <a:t>具体操作：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访问</a:t>
            </a:r>
            <a:r>
              <a:rPr lang="en-US" altLang="zh-CN" dirty="0"/>
              <a:t>Python</a:t>
            </a:r>
            <a:r>
              <a:rPr lang="zh-CN" altLang="en-US" dirty="0"/>
              <a:t>官网：</a:t>
            </a:r>
            <a:r>
              <a:rPr lang="en-US" altLang="zh-CN" dirty="0">
                <a:hlinkClick r:id="rId2"/>
              </a:rPr>
              <a:t>https://www.python.org/downloads/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下载最新版</a:t>
            </a:r>
            <a:r>
              <a:rPr lang="en-US" altLang="zh-CN" dirty="0"/>
              <a:t>Python</a:t>
            </a:r>
            <a:r>
              <a:rPr lang="zh-CN" altLang="en-US" dirty="0"/>
              <a:t>安装包</a:t>
            </a:r>
            <a:r>
              <a:rPr lang="en-US" altLang="zh-CN" dirty="0"/>
              <a:t>(</a:t>
            </a:r>
            <a:r>
              <a:rPr lang="zh-CN" altLang="en-US" dirty="0"/>
              <a:t>选择与系统对应的版本</a:t>
            </a:r>
            <a:r>
              <a:rPr lang="en-US" altLang="zh-CN" dirty="0"/>
              <a:t>)</a:t>
            </a:r>
            <a:r>
              <a:rPr lang="zh-CN" altLang="en-US" dirty="0"/>
              <a:t>运行安装程序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勾选</a:t>
            </a:r>
            <a:r>
              <a:rPr lang="en-US" altLang="zh-CN" dirty="0"/>
              <a:t>“Add Python to PATH”</a:t>
            </a:r>
            <a:r>
              <a:rPr lang="zh-CN" altLang="en-US" dirty="0"/>
              <a:t>选项完成安装，并重启电脑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打开命令行 </a:t>
            </a:r>
            <a:r>
              <a:rPr lang="en-US" altLang="zh-CN" dirty="0"/>
              <a:t>[win + R </a:t>
            </a:r>
            <a:r>
              <a:rPr lang="zh-CN" altLang="en-US" dirty="0"/>
              <a:t>输入</a:t>
            </a:r>
            <a:r>
              <a:rPr lang="en-US" altLang="zh-CN" dirty="0" err="1"/>
              <a:t>cmd</a:t>
            </a:r>
            <a:r>
              <a:rPr lang="en-US" altLang="zh-CN" dirty="0"/>
              <a:t>] </a:t>
            </a:r>
            <a:r>
              <a:rPr lang="zh-CN" altLang="en-US" dirty="0"/>
              <a:t>输入</a:t>
            </a:r>
            <a:r>
              <a:rPr lang="en-US" altLang="zh-CN" dirty="0"/>
              <a:t>python --version</a:t>
            </a:r>
            <a:r>
              <a:rPr lang="zh-CN" altLang="en-US" dirty="0"/>
              <a:t>验证安装</a:t>
            </a:r>
            <a:endParaRPr lang="zh-CN" alt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C3E7E2-BE7E-84DB-CB8D-5BF81B836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27181"/>
            <a:ext cx="5866667" cy="1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0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75BF-81FC-3C90-8CF9-C7A42C93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64CA92-B91D-FC7A-BBA2-E813DE2BB924}"/>
              </a:ext>
            </a:extLst>
          </p:cNvPr>
          <p:cNvSpPr txBox="1"/>
          <p:nvPr/>
        </p:nvSpPr>
        <p:spPr>
          <a:xfrm>
            <a:off x="365125" y="31721"/>
            <a:ext cx="7847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环境配置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——AI API Key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47D85A7-DB58-076D-7199-9DB04A00B3E3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2ED5776-3A83-5710-756E-511B3C5CCA5A}"/>
              </a:ext>
            </a:extLst>
          </p:cNvPr>
          <p:cNvSpPr txBox="1"/>
          <p:nvPr/>
        </p:nvSpPr>
        <p:spPr>
          <a:xfrm>
            <a:off x="279491" y="1282856"/>
            <a:ext cx="11817050" cy="6425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API</a:t>
            </a:r>
            <a:r>
              <a:rPr lang="en-US" altLang="zh-CN" sz="2000" dirty="0"/>
              <a:t> : </a:t>
            </a:r>
            <a:r>
              <a:rPr lang="en-US" altLang="zh-CN" dirty="0"/>
              <a:t>API (Application Programming Interface) </a:t>
            </a:r>
            <a:r>
              <a:rPr lang="zh-CN" altLang="en-US" dirty="0"/>
              <a:t>是一组规则和工具，允许不同的软件程序相互通信和交换数据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API key</a:t>
            </a:r>
            <a:r>
              <a:rPr lang="en-US" altLang="zh-CN" dirty="0"/>
              <a:t> </a:t>
            </a:r>
            <a:r>
              <a:rPr lang="zh-CN" altLang="en-US" dirty="0"/>
              <a:t>：（</a:t>
            </a:r>
            <a:r>
              <a:rPr lang="en-US" altLang="zh-CN" dirty="0"/>
              <a:t>API</a:t>
            </a:r>
            <a:r>
              <a:rPr lang="zh-CN" altLang="en-US" dirty="0"/>
              <a:t>密钥）是一串唯一的字符串，用作身份验证凭证，允许你安全地访问和使用特定的</a:t>
            </a:r>
            <a:r>
              <a:rPr lang="en-US" altLang="zh-CN" dirty="0"/>
              <a:t>API</a:t>
            </a:r>
            <a:r>
              <a:rPr lang="zh-CN" altLang="en-US" dirty="0"/>
              <a:t>服务。就像是访问</a:t>
            </a:r>
            <a:r>
              <a:rPr lang="en-US" altLang="zh-CN" dirty="0"/>
              <a:t>API</a:t>
            </a:r>
            <a:r>
              <a:rPr lang="zh-CN" altLang="en-US" dirty="0"/>
              <a:t>服务的钥匙或通行证。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AI API key</a:t>
            </a:r>
            <a:r>
              <a:rPr lang="en-US" altLang="zh-CN" dirty="0"/>
              <a:t> </a:t>
            </a:r>
            <a:r>
              <a:rPr lang="zh-CN" altLang="en-US" dirty="0"/>
              <a:t>：可以自由简单的调用</a:t>
            </a:r>
            <a:r>
              <a:rPr lang="en-US" altLang="zh-CN" dirty="0"/>
              <a:t>AI</a:t>
            </a:r>
            <a:r>
              <a:rPr lang="zh-CN" altLang="en-US" dirty="0"/>
              <a:t>功能。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操作方法：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打开清华大学算力平台网站：</a:t>
            </a:r>
            <a:r>
              <a:rPr lang="en-US" altLang="zh-CN" dirty="0">
                <a:hlinkClick r:id="rId2"/>
              </a:rPr>
              <a:t>https://easycompute.cs.tsinghua.edu.cn/home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登录并点击“点击使用”，如何再点击“大模型平台</a:t>
            </a:r>
            <a:r>
              <a:rPr lang="en-US" altLang="zh-CN" dirty="0"/>
              <a:t>-API</a:t>
            </a:r>
            <a:r>
              <a:rPr lang="zh-CN" altLang="en-US" dirty="0"/>
              <a:t>密钥”，创建密钥并且记录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zh-CN" altLang="en-US" dirty="0"/>
              <a:t>清华大学学生至今有</a:t>
            </a:r>
            <a:r>
              <a:rPr lang="en-US" altLang="zh-CN" dirty="0"/>
              <a:t>500</a:t>
            </a:r>
            <a:r>
              <a:rPr lang="zh-CN" altLang="en-US" dirty="0"/>
              <a:t>元的算力额度，可以至今微信公众号搜索相关教程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altLang="zh-CN" dirty="0"/>
          </a:p>
          <a:p>
            <a:pPr>
              <a:lnSpc>
                <a:spcPct val="200000"/>
              </a:lnSpc>
            </a:pPr>
            <a:endParaRPr lang="zh-CN" alt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95F653F-E4F4-72C8-183F-5D7DC18C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278" y="2973237"/>
            <a:ext cx="5926937" cy="216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0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FAFD-24F4-E9FA-C15E-F6E8DEAB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01AB6F-EF94-BCA2-AA41-7EAEE639AA72}"/>
              </a:ext>
            </a:extLst>
          </p:cNvPr>
          <p:cNvSpPr txBox="1"/>
          <p:nvPr/>
        </p:nvSpPr>
        <p:spPr>
          <a:xfrm>
            <a:off x="365124" y="31721"/>
            <a:ext cx="8759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环境配置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项目快速启动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3F68C2D-92F6-9A38-CF83-3E4B67E408E4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55EAA14-8293-49CA-D50D-497FFA72B849}"/>
              </a:ext>
            </a:extLst>
          </p:cNvPr>
          <p:cNvSpPr txBox="1"/>
          <p:nvPr/>
        </p:nvSpPr>
        <p:spPr>
          <a:xfrm>
            <a:off x="365124" y="1488559"/>
            <a:ext cx="8639176" cy="4200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/>
              <a:t>Step0</a:t>
            </a:r>
            <a:r>
              <a:rPr lang="zh-CN" altLang="en-US" sz="2000" dirty="0"/>
              <a:t>：配置好</a:t>
            </a:r>
            <a:r>
              <a:rPr lang="en-US" altLang="zh-CN" sz="2000" dirty="0" err="1"/>
              <a:t>VScode</a:t>
            </a:r>
            <a:r>
              <a:rPr lang="zh-CN" altLang="en-US" sz="2000" dirty="0"/>
              <a:t>、</a:t>
            </a:r>
            <a:r>
              <a:rPr lang="en-US" altLang="zh-CN" sz="2000" dirty="0"/>
              <a:t>python</a:t>
            </a:r>
            <a:r>
              <a:rPr lang="zh-CN" altLang="en-US" sz="2000" dirty="0"/>
              <a:t>；获取自己组的</a:t>
            </a:r>
            <a:r>
              <a:rPr lang="en-US" altLang="zh-CN" sz="2000" dirty="0" err="1"/>
              <a:t>api</a:t>
            </a:r>
            <a:r>
              <a:rPr lang="en-US" altLang="zh-CN" sz="2000" dirty="0"/>
              <a:t> key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Step1</a:t>
            </a:r>
            <a:r>
              <a:rPr lang="zh-CN" altLang="en-US" sz="2000" dirty="0"/>
              <a:t>：下载网络学堂的项目文件，解压缩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Step2</a:t>
            </a:r>
            <a:r>
              <a:rPr lang="zh-CN" altLang="en-US" sz="2000" dirty="0"/>
              <a:t>：在</a:t>
            </a:r>
            <a:r>
              <a:rPr lang="en-US" altLang="zh-CN" sz="2000" dirty="0" err="1"/>
              <a:t>VScode</a:t>
            </a:r>
            <a:r>
              <a:rPr lang="zh-CN" altLang="en-US" sz="2000" dirty="0"/>
              <a:t>中打开本项目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Step3</a:t>
            </a:r>
            <a:r>
              <a:rPr lang="zh-CN" altLang="en-US" sz="2000" dirty="0"/>
              <a:t>：在</a:t>
            </a:r>
            <a:r>
              <a:rPr lang="en-US" altLang="zh-CN" sz="2000" dirty="0" err="1"/>
              <a:t>VScode</a:t>
            </a:r>
            <a:r>
              <a:rPr lang="zh-CN" altLang="en-US" sz="2000" dirty="0"/>
              <a:t>中打开终端（按</a:t>
            </a:r>
            <a:r>
              <a:rPr lang="en-US" altLang="zh-CN" sz="2000" dirty="0"/>
              <a:t>Ctr+`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Step4</a:t>
            </a:r>
            <a:r>
              <a:rPr lang="zh-CN" altLang="en-US" sz="2000" dirty="0"/>
              <a:t>：在终端输入指令</a:t>
            </a:r>
            <a:r>
              <a:rPr lang="en-US" altLang="zh-CN" sz="2000" dirty="0"/>
              <a:t>` pip install -r </a:t>
            </a:r>
            <a:r>
              <a:rPr lang="en-US" altLang="zh-CN" sz="2000" dirty="0" err="1"/>
              <a:t>requirements.txt</a:t>
            </a:r>
            <a:r>
              <a:rPr lang="en-US" altLang="zh-CN" sz="2000" dirty="0"/>
              <a:t> `</a:t>
            </a:r>
            <a:r>
              <a:rPr lang="zh-CN" altLang="en-US" sz="2000" dirty="0"/>
              <a:t>来安装依赖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Step5</a:t>
            </a:r>
            <a:r>
              <a:rPr lang="zh-CN" altLang="en-US" sz="2000" dirty="0"/>
              <a:t>：打开文件</a:t>
            </a:r>
            <a:r>
              <a:rPr lang="en-US" altLang="zh-CN" sz="2000" dirty="0" err="1"/>
              <a:t>ai_service</a:t>
            </a:r>
            <a:r>
              <a:rPr lang="zh-CN" altLang="en-US" sz="2000" dirty="0"/>
              <a:t>，将第</a:t>
            </a:r>
            <a:r>
              <a:rPr lang="en-US" altLang="zh-CN" sz="2000" dirty="0"/>
              <a:t>6</a:t>
            </a:r>
            <a:r>
              <a:rPr lang="zh-CN" altLang="en-US" sz="2000" dirty="0"/>
              <a:t>行的</a:t>
            </a:r>
            <a:r>
              <a:rPr lang="en-US" altLang="zh-CN" sz="2000" dirty="0" err="1"/>
              <a:t>api</a:t>
            </a:r>
            <a:r>
              <a:rPr lang="en-US" altLang="zh-CN" sz="2000" dirty="0"/>
              <a:t> key</a:t>
            </a:r>
            <a:r>
              <a:rPr lang="zh-CN" altLang="en-US" sz="2000" dirty="0"/>
              <a:t>更改为自己组的</a:t>
            </a:r>
            <a:r>
              <a:rPr lang="en-US" altLang="zh-CN" sz="2000" dirty="0" err="1"/>
              <a:t>api</a:t>
            </a:r>
            <a:r>
              <a:rPr lang="en-US" altLang="zh-CN" sz="2000" dirty="0"/>
              <a:t> key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Step6</a:t>
            </a:r>
            <a:r>
              <a:rPr lang="zh-CN" altLang="en-US" sz="2000" dirty="0"/>
              <a:t>：在终端输入指令</a:t>
            </a:r>
            <a:r>
              <a:rPr lang="en-US" altLang="zh-CN" sz="2000" dirty="0"/>
              <a:t>` python </a:t>
            </a:r>
            <a:r>
              <a:rPr lang="en-US" altLang="zh-CN" sz="2000" dirty="0" err="1"/>
              <a:t>app.py</a:t>
            </a:r>
            <a:r>
              <a:rPr lang="en-US" altLang="zh-CN" sz="2000" dirty="0"/>
              <a:t> `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Step7</a:t>
            </a:r>
            <a:r>
              <a:rPr lang="zh-CN" altLang="en-US" sz="2000" dirty="0"/>
              <a:t>：在浏览器中打开访问网页</a:t>
            </a:r>
            <a:r>
              <a:rPr lang="en-US" altLang="zh-CN" sz="2000" dirty="0"/>
              <a:t>http://</a:t>
            </a:r>
            <a:r>
              <a:rPr lang="en-US" altLang="zh-CN" sz="2000" dirty="0" err="1"/>
              <a:t>localhost:5000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E26D5F4-B7B0-BA69-4A04-6986938F4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785" y="4675315"/>
            <a:ext cx="5445128" cy="19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3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F7F2-3026-895F-1A88-91F44A03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3D014A-0F5A-D9EB-4717-509169ACD578}"/>
              </a:ext>
            </a:extLst>
          </p:cNvPr>
          <p:cNvSpPr txBox="1"/>
          <p:nvPr/>
        </p:nvSpPr>
        <p:spPr>
          <a:xfrm>
            <a:off x="365125" y="31721"/>
            <a:ext cx="7847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09BE488-2CB7-C699-759A-9B052FCB54B9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EF9FCBD-4030-8212-A9CF-6DA5BA3E81EB}"/>
              </a:ext>
            </a:extLst>
          </p:cNvPr>
          <p:cNvSpPr txBox="1"/>
          <p:nvPr/>
        </p:nvSpPr>
        <p:spPr>
          <a:xfrm>
            <a:off x="187475" y="1035566"/>
            <a:ext cx="11817050" cy="3946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CodePrism</a:t>
            </a:r>
          </a:p>
          <a:p>
            <a:pPr>
              <a:lnSpc>
                <a:spcPct val="200000"/>
              </a:lnSpc>
            </a:pPr>
            <a:r>
              <a:rPr lang="zh-CN" altLang="en-US" sz="2000" dirty="0"/>
              <a:t>为了便于大家顺利完成项目，我们已经搭建好了前端网页与后端服务的完整框架</a:t>
            </a:r>
            <a:r>
              <a:rPr lang="en-US" altLang="zh-CN" sz="2000" dirty="0"/>
              <a:t>——</a:t>
            </a:r>
            <a:r>
              <a:rPr lang="en-US" altLang="zh-CN" sz="2000" b="1" dirty="0"/>
              <a:t>CodePrism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大家只需要再这个项目中进行针对性改造即可。（当然也鼓励自行设计与创新）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但是</a:t>
            </a:r>
            <a:r>
              <a:rPr lang="en-US" altLang="zh-CN" sz="2000" dirty="0"/>
              <a:t>CodePrism</a:t>
            </a:r>
            <a:r>
              <a:rPr lang="zh-CN" altLang="en-US" sz="2000" dirty="0"/>
              <a:t>只实现了最简单基础的分析功能，需要继续地去运用一些课上学到过的知识去提高这个</a:t>
            </a:r>
            <a:r>
              <a:rPr lang="en-US" altLang="zh-CN" sz="2000" dirty="0"/>
              <a:t>AI</a:t>
            </a:r>
            <a:r>
              <a:rPr lang="zh-CN" altLang="en-US" sz="2000" dirty="0"/>
              <a:t>工具的分析能力。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目前已经实现的功能：</a:t>
            </a:r>
            <a:endParaRPr lang="en-US" altLang="zh-CN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F99D14-5748-6223-9D9E-92E435403A23}"/>
              </a:ext>
            </a:extLst>
          </p:cNvPr>
          <p:cNvSpPr txBox="1"/>
          <p:nvPr/>
        </p:nvSpPr>
        <p:spPr>
          <a:xfrm>
            <a:off x="2823714" y="4325464"/>
            <a:ext cx="9230264" cy="1853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/>
              <a:t>1. </a:t>
            </a:r>
            <a:r>
              <a:rPr lang="zh-CN" altLang="en-US" sz="2000" dirty="0"/>
              <a:t>快速上传代码并显示 </a:t>
            </a:r>
            <a:r>
              <a:rPr lang="en-US" altLang="zh-CN" sz="2000" dirty="0"/>
              <a:t>2.</a:t>
            </a:r>
            <a:r>
              <a:rPr lang="zh-CN" altLang="en-US" sz="2000" dirty="0"/>
              <a:t> 可在网站上输入要分析的规则 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dirty="0"/>
              <a:t>3. </a:t>
            </a:r>
            <a:r>
              <a:rPr lang="zh-CN" altLang="en-US" sz="2000" dirty="0"/>
              <a:t>可以调用</a:t>
            </a:r>
            <a:r>
              <a:rPr lang="en-US" altLang="zh-CN" sz="2000" dirty="0"/>
              <a:t>AI</a:t>
            </a:r>
            <a:r>
              <a:rPr lang="zh-CN" altLang="en-US" sz="2000" dirty="0"/>
              <a:t>进行分析对应的代码违反了哪些规则（朴素实现，</a:t>
            </a:r>
            <a:r>
              <a:rPr lang="en-US" altLang="zh-CN" sz="2000" dirty="0"/>
              <a:t>AI</a:t>
            </a:r>
            <a:r>
              <a:rPr lang="zh-CN" altLang="en-US" sz="2000" dirty="0"/>
              <a:t>回答质量一般）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dirty="0"/>
              <a:t>4. </a:t>
            </a:r>
            <a:r>
              <a:rPr lang="zh-CN" altLang="en-US" sz="2000" dirty="0"/>
              <a:t>可以通过</a:t>
            </a:r>
            <a:r>
              <a:rPr lang="en-US" altLang="zh-CN" sz="2000" dirty="0" err="1"/>
              <a:t>json</a:t>
            </a:r>
            <a:r>
              <a:rPr lang="zh-CN" altLang="en-US" sz="2000" dirty="0"/>
              <a:t>读取形式罗列违反规则行号、</a:t>
            </a:r>
            <a:r>
              <a:rPr lang="en-US" altLang="zh-CN" sz="2000" dirty="0"/>
              <a:t>id</a:t>
            </a:r>
            <a:r>
              <a:rPr lang="zh-CN" altLang="en-US" sz="2000" dirty="0"/>
              <a:t>、原因分析 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792976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713D-CB35-94B2-EEA4-E6AEF727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183322-1516-DF41-B1E9-163CD0552E64}"/>
              </a:ext>
            </a:extLst>
          </p:cNvPr>
          <p:cNvSpPr txBox="1"/>
          <p:nvPr/>
        </p:nvSpPr>
        <p:spPr>
          <a:xfrm>
            <a:off x="365125" y="31721"/>
            <a:ext cx="8612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69A35CB-41AA-7F03-40EB-A2F827EB6AF2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DDE54CEA-672C-819C-F7F2-B80DC612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14" y="1155298"/>
            <a:ext cx="10990053" cy="55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44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DD28-26FD-77BE-58A6-B9137BA2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16CC6B-AF9D-6058-C030-10EFB5E833E9}"/>
              </a:ext>
            </a:extLst>
          </p:cNvPr>
          <p:cNvSpPr txBox="1"/>
          <p:nvPr/>
        </p:nvSpPr>
        <p:spPr>
          <a:xfrm>
            <a:off x="365125" y="31721"/>
            <a:ext cx="8750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7E0F746-668B-E058-E3EA-FAD5EC95A07A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887DDEEE-562A-7E57-C6F0-F1AA4675E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42" y="1314872"/>
            <a:ext cx="10604740" cy="538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8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F3BE-FE3B-8D94-1AE7-C03597A73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829289-9882-52C6-5BB7-B48A831F2B09}"/>
              </a:ext>
            </a:extLst>
          </p:cNvPr>
          <p:cNvSpPr txBox="1"/>
          <p:nvPr/>
        </p:nvSpPr>
        <p:spPr>
          <a:xfrm>
            <a:off x="365124" y="31721"/>
            <a:ext cx="8606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7E3108F-DFFA-AA75-16E0-491EDCB63564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1A32308-A73D-11DF-8823-2445C606F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01" y="1148947"/>
            <a:ext cx="10949798" cy="555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76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327A-3CD2-F6EA-A75F-563D360A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AAAE8D-05F0-C452-B4AF-E3B1D3153D85}"/>
              </a:ext>
            </a:extLst>
          </p:cNvPr>
          <p:cNvSpPr txBox="1"/>
          <p:nvPr/>
        </p:nvSpPr>
        <p:spPr>
          <a:xfrm>
            <a:off x="365124" y="31721"/>
            <a:ext cx="8974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879364-02C2-D7CF-4C66-495FB1AF1B56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CAD6EF7E-F13A-9284-17A0-C49774DE4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69" y="1148926"/>
            <a:ext cx="11041812" cy="560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29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0110A-AA6D-B28A-1FDD-2ED12984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8235D1-22CC-6C42-0C6F-BD804A3351D9}"/>
              </a:ext>
            </a:extLst>
          </p:cNvPr>
          <p:cNvSpPr txBox="1"/>
          <p:nvPr/>
        </p:nvSpPr>
        <p:spPr>
          <a:xfrm>
            <a:off x="365124" y="31721"/>
            <a:ext cx="8635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90917AD-3A5F-16EF-F14D-2FAC406E13D5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3ECCA7C1-F36A-EAD4-3D6E-B630C6505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79" y="1211896"/>
            <a:ext cx="10878709" cy="55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27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6969-5669-4892-1C19-1501A508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EBB136-558F-EE00-E468-813E80E59BBE}"/>
              </a:ext>
            </a:extLst>
          </p:cNvPr>
          <p:cNvSpPr txBox="1"/>
          <p:nvPr/>
        </p:nvSpPr>
        <p:spPr>
          <a:xfrm>
            <a:off x="365125" y="31721"/>
            <a:ext cx="8295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基本功能介绍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-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工作流演示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C09C8D4-6F2D-CCDF-4875-2D3ADF808137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A18F0B8-44DC-4E05-FAF5-36C591E6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58" y="1133667"/>
            <a:ext cx="11082068" cy="562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88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DE33F-DF10-ED15-228C-B3CB909A3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0AC7C1-2BF3-46F6-5939-0B4FB54EFA8C}"/>
              </a:ext>
            </a:extLst>
          </p:cNvPr>
          <p:cNvSpPr txBox="1"/>
          <p:nvPr/>
        </p:nvSpPr>
        <p:spPr>
          <a:xfrm>
            <a:off x="365125" y="31721"/>
            <a:ext cx="8295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代码框架介绍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58F58BA-490E-B75F-4A9F-7C9170EF99E8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84193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88942E8-BEA3-B030-9EA4-FA104EAC5050}"/>
              </a:ext>
            </a:extLst>
          </p:cNvPr>
          <p:cNvSpPr txBox="1"/>
          <p:nvPr/>
        </p:nvSpPr>
        <p:spPr>
          <a:xfrm>
            <a:off x="365125" y="1319158"/>
            <a:ext cx="9593395" cy="52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/>
              <a:t>CodePrism</a:t>
            </a:r>
            <a:r>
              <a:rPr lang="zh-CN" altLang="en-US" sz="2000" dirty="0"/>
              <a:t>/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app.py                           # Flask后端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ai_service.py                   # AI调用服务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rag_service.py                 # RAG服务框架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templates/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│   └── index.html                 # 前端页面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static/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│   ├── css/style.css               # 样式文件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│   ├── js/main.js                   # 前端逻辑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│   └── logo.png                    # Logo图片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code_specifications/          # 规范文档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data/                                 # 数据存储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├── knowledge_base/              # 知识库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└── test_code/                         # 测试代码</a:t>
            </a:r>
          </a:p>
        </p:txBody>
      </p:sp>
    </p:spTree>
    <p:extLst>
      <p:ext uri="{BB962C8B-B14F-4D97-AF65-F5344CB8AC3E}">
        <p14:creationId xmlns:p14="http://schemas.microsoft.com/office/powerpoint/2010/main" val="4172323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51690-1F37-42BA-D093-E2244CA5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2A28FC-0BD5-7056-891F-91665495A983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三步需求点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——prompt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实现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46A45D6-3C71-9F00-02BF-80D33FA5A8D1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25E5618-7663-725D-D929-2FF1D2993A02}"/>
              </a:ext>
            </a:extLst>
          </p:cNvPr>
          <p:cNvSpPr txBox="1"/>
          <p:nvPr/>
        </p:nvSpPr>
        <p:spPr>
          <a:xfrm>
            <a:off x="365124" y="1338208"/>
            <a:ext cx="10779126" cy="4869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已有的</a:t>
            </a:r>
            <a:r>
              <a:rPr lang="en-US" altLang="zh-CN" sz="2800" dirty="0">
                <a:solidFill>
                  <a:schemeClr val="bg1"/>
                </a:solidFill>
                <a:highlight>
                  <a:srgbClr val="000000"/>
                </a:highlight>
              </a:rPr>
              <a:t>prompt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你是一个专业的</a:t>
            </a:r>
            <a:r>
              <a:rPr lang="en-US" altLang="zh-CN" sz="2000" dirty="0"/>
              <a:t>C</a:t>
            </a:r>
            <a:r>
              <a:rPr lang="zh-CN" altLang="en-US" sz="2000" dirty="0"/>
              <a:t>语言代码规范检查助手。负责接收用户提供的代码列表，列表中的每一项都包含行号</a:t>
            </a:r>
            <a:r>
              <a:rPr lang="en-US" altLang="zh-CN" sz="2000" dirty="0"/>
              <a:t>(line_number)</a:t>
            </a:r>
            <a:r>
              <a:rPr lang="zh-CN" altLang="en-US" sz="2000" dirty="0"/>
              <a:t>和对应的代码内容</a:t>
            </a:r>
            <a:r>
              <a:rPr lang="en-US" altLang="zh-CN" sz="2000" dirty="0"/>
              <a:t>(code)</a:t>
            </a:r>
            <a:r>
              <a:rPr lang="zh-CN" altLang="en-US" sz="2000" dirty="0"/>
              <a:t>。助手会逐行检查代码是否违反规范，如发现违规将指出具体违反了什么规则。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助手的输出采用严格的</a:t>
            </a:r>
            <a:r>
              <a:rPr lang="en-US" altLang="zh-CN" sz="2000" dirty="0"/>
              <a:t>JSON</a:t>
            </a:r>
            <a:r>
              <a:rPr lang="zh-CN" altLang="en-US" sz="2000" dirty="0"/>
              <a:t>格式，只会列出违规的行。每条违规记录包含三个字段：原始行号</a:t>
            </a:r>
            <a:r>
              <a:rPr lang="en-US" altLang="zh-CN" sz="2000" dirty="0"/>
              <a:t>(line)</a:t>
            </a:r>
            <a:r>
              <a:rPr lang="zh-CN" altLang="en-US" sz="2000" dirty="0"/>
              <a:t>、违反的规则编号</a:t>
            </a:r>
            <a:r>
              <a:rPr lang="en-US" altLang="zh-CN" sz="2000" dirty="0"/>
              <a:t>(rule)</a:t>
            </a:r>
            <a:r>
              <a:rPr lang="zh-CN" altLang="en-US" sz="2000" dirty="0"/>
              <a:t>以及违规分析说明</a:t>
            </a:r>
            <a:r>
              <a:rPr lang="en-US" altLang="zh-CN" sz="2000" dirty="0"/>
              <a:t>(analysis)</a:t>
            </a:r>
            <a:r>
              <a:rPr lang="zh-CN" altLang="en-US" sz="2000" dirty="0"/>
              <a:t>。如果所有代码都符合规范，则返回空数组。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以一个具体示例来说：当输入包含三行代码时（第</a:t>
            </a:r>
            <a:r>
              <a:rPr lang="en-US" altLang="zh-CN" sz="2000" dirty="0"/>
              <a:t>6</a:t>
            </a:r>
            <a:r>
              <a:rPr lang="zh-CN" altLang="en-US" sz="2000" dirty="0"/>
              <a:t>行定义了一个</a:t>
            </a:r>
            <a:r>
              <a:rPr lang="en-US" altLang="zh-CN" sz="2000" dirty="0"/>
              <a:t>long</a:t>
            </a:r>
            <a:r>
              <a:rPr lang="zh-CN" altLang="en-US" sz="2000" dirty="0"/>
              <a:t>类型变量，第</a:t>
            </a:r>
            <a:r>
              <a:rPr lang="en-US" altLang="zh-CN" sz="2000" dirty="0"/>
              <a:t>7</a:t>
            </a:r>
            <a:r>
              <a:rPr lang="zh-CN" altLang="en-US" sz="2000" dirty="0"/>
              <a:t>行是一个</a:t>
            </a:r>
            <a:r>
              <a:rPr lang="en-US" altLang="zh-CN" sz="2000" dirty="0"/>
              <a:t>for</a:t>
            </a:r>
            <a:r>
              <a:rPr lang="zh-CN" altLang="en-US" sz="2000" dirty="0"/>
              <a:t>循环，第</a:t>
            </a:r>
            <a:r>
              <a:rPr lang="en-US" altLang="zh-CN" sz="2000" dirty="0"/>
              <a:t>9</a:t>
            </a:r>
            <a:r>
              <a:rPr lang="zh-CN" altLang="en-US" sz="2000" dirty="0"/>
              <a:t>行进行数值计算），助手检测出两处违规：一是第</a:t>
            </a:r>
            <a:r>
              <a:rPr lang="en-US" altLang="zh-CN" sz="2000" dirty="0"/>
              <a:t>6</a:t>
            </a:r>
            <a:r>
              <a:rPr lang="zh-CN" altLang="en-US" sz="2000" dirty="0"/>
              <a:t>行使用小写</a:t>
            </a:r>
            <a:r>
              <a:rPr lang="en-US" altLang="zh-CN" sz="2000" dirty="0"/>
              <a:t>'l'</a:t>
            </a:r>
            <a:r>
              <a:rPr lang="zh-CN" altLang="en-US" sz="2000" dirty="0"/>
              <a:t>作为</a:t>
            </a:r>
            <a:r>
              <a:rPr lang="en-US" altLang="zh-CN" sz="2000" dirty="0"/>
              <a:t>long</a:t>
            </a:r>
            <a:r>
              <a:rPr lang="zh-CN" altLang="en-US" sz="2000" dirty="0"/>
              <a:t>类型后缀容易与数字</a:t>
            </a:r>
            <a:r>
              <a:rPr lang="en-US" altLang="zh-CN" sz="2000" dirty="0"/>
              <a:t>1</a:t>
            </a:r>
            <a:r>
              <a:rPr lang="zh-CN" altLang="en-US" sz="2000" dirty="0"/>
              <a:t>混淆，二是第</a:t>
            </a:r>
            <a:r>
              <a:rPr lang="en-US" altLang="zh-CN" sz="2000" dirty="0"/>
              <a:t>9</a:t>
            </a:r>
            <a:r>
              <a:rPr lang="zh-CN" altLang="en-US" sz="2000" dirty="0"/>
              <a:t>行使用了不允许的八进制常量表示。这些违规都会在输出的</a:t>
            </a:r>
            <a:r>
              <a:rPr lang="en-US" altLang="zh-CN" sz="2000" dirty="0"/>
              <a:t>JSON</a:t>
            </a:r>
            <a:r>
              <a:rPr lang="zh-CN" altLang="en-US" sz="2000" dirty="0"/>
              <a:t>中被清晰地标注出来。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在使用过程中，助手会严格保持原始行号，并确保输出的</a:t>
            </a:r>
            <a:r>
              <a:rPr lang="en-US" altLang="zh-CN" sz="2000" dirty="0"/>
              <a:t>JSON</a:t>
            </a:r>
            <a:r>
              <a:rPr lang="zh-CN" altLang="en-US" sz="2000" dirty="0"/>
              <a:t>格式完全正确。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392571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988D-D7C2-112B-A55B-F443FA54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C83BB1A-2F98-83F0-1519-81CEB2E7EA1C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三步需求点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——prompt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实现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D5D158A-59B2-EE58-A19E-C0B30C730338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96AF2C70-099D-1324-0B49-E79F6E2AB790}"/>
              </a:ext>
            </a:extLst>
          </p:cNvPr>
          <p:cNvSpPr txBox="1"/>
          <p:nvPr/>
        </p:nvSpPr>
        <p:spPr>
          <a:xfrm>
            <a:off x="511174" y="1300108"/>
            <a:ext cx="10779126" cy="5862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分析已有的</a:t>
            </a:r>
            <a:r>
              <a:rPr lang="en-US" altLang="zh-CN" sz="3600" dirty="0">
                <a:solidFill>
                  <a:schemeClr val="bg1"/>
                </a:solidFill>
                <a:highlight>
                  <a:srgbClr val="000000"/>
                </a:highlight>
              </a:rPr>
              <a:t>prompt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身份描述 “你是一个</a:t>
            </a:r>
            <a:r>
              <a:rPr lang="en-US" altLang="zh-CN" sz="2000" dirty="0"/>
              <a:t>…………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格式输出要求：“要求以</a:t>
            </a:r>
            <a:r>
              <a:rPr lang="en-US" altLang="zh-CN" sz="2000" dirty="0" err="1"/>
              <a:t>json</a:t>
            </a:r>
            <a:r>
              <a:rPr lang="zh-CN" altLang="en-US" sz="2000" dirty="0"/>
              <a:t>格式输出”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格式输出举例：“例如</a:t>
            </a:r>
            <a:r>
              <a:rPr lang="en-US" altLang="zh-CN" sz="2000" dirty="0"/>
              <a:t>…………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可以新增的</a:t>
            </a:r>
            <a:r>
              <a:rPr lang="en-US" altLang="zh-CN" sz="3600" dirty="0">
                <a:solidFill>
                  <a:schemeClr val="bg1"/>
                </a:solidFill>
                <a:highlight>
                  <a:srgbClr val="000000"/>
                </a:highlight>
              </a:rPr>
              <a:t>prompt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专业能力描述：“熟悉常见的代码缺陷、了解跨平台特性”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分析准则：“关注严重问题优先</a:t>
            </a:r>
            <a:r>
              <a:rPr lang="en-US" altLang="zh-CN" sz="2000" dirty="0"/>
              <a:t>……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思维链：“设计一个合适的</a:t>
            </a:r>
            <a:r>
              <a:rPr lang="en-US" altLang="zh-CN" sz="2000" dirty="0"/>
              <a:t>cot</a:t>
            </a:r>
            <a:r>
              <a:rPr lang="zh-CN" altLang="en-US" sz="2000" dirty="0"/>
              <a:t>，带</a:t>
            </a:r>
            <a:r>
              <a:rPr lang="en-US" altLang="zh-CN" sz="2000" dirty="0"/>
              <a:t>ai</a:t>
            </a:r>
            <a:r>
              <a:rPr lang="zh-CN" altLang="en-US" sz="2000" dirty="0"/>
              <a:t>思考</a:t>
            </a:r>
            <a:r>
              <a:rPr lang="en-US" altLang="zh-CN" sz="2000" dirty="0"/>
              <a:t>……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细节补充：“要求解释通俗易懂且给出修改方案</a:t>
            </a:r>
            <a:r>
              <a:rPr lang="en-US" altLang="zh-CN" sz="2000" dirty="0"/>
              <a:t>……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等等</a:t>
            </a:r>
            <a:r>
              <a:rPr lang="en-US" altLang="zh-CN" sz="2000" dirty="0"/>
              <a:t>……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4090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AEC10-2A8E-2A44-C56D-92ED87CF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906945-BE2D-06A5-12E3-346B2E4F4E39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三步需求点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——prompt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实现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8657513-D9EB-A5B5-19EC-AE1AE57A496A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55B4198-134C-706C-5266-0D280627E6A9}"/>
              </a:ext>
            </a:extLst>
          </p:cNvPr>
          <p:cNvSpPr txBox="1"/>
          <p:nvPr/>
        </p:nvSpPr>
        <p:spPr>
          <a:xfrm>
            <a:off x="307974" y="1213714"/>
            <a:ext cx="10779126" cy="239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solidFill>
                  <a:schemeClr val="bg1"/>
                </a:solidFill>
                <a:highlight>
                  <a:srgbClr val="000000"/>
                </a:highlight>
              </a:rPr>
              <a:t>HOW</a:t>
            </a:r>
            <a:r>
              <a:rPr lang="zh-CN" altLang="en-US" sz="5400" dirty="0">
                <a:solidFill>
                  <a:schemeClr val="bg1"/>
                </a:solidFill>
                <a:highlight>
                  <a:srgbClr val="000000"/>
                </a:highlight>
              </a:rPr>
              <a:t>？</a:t>
            </a:r>
            <a:endParaRPr lang="en-US" altLang="zh-CN" sz="54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1. </a:t>
            </a:r>
            <a:r>
              <a:rPr lang="zh-CN" altLang="en-US" sz="2400" dirty="0"/>
              <a:t>找到文件</a:t>
            </a:r>
            <a:r>
              <a:rPr lang="en-US" altLang="zh-CN" sz="2400" dirty="0" err="1">
                <a:highlight>
                  <a:srgbClr val="C0C0C0"/>
                </a:highlight>
              </a:rPr>
              <a:t>ai_service.py</a:t>
            </a:r>
            <a:r>
              <a:rPr lang="zh-CN" altLang="en-US" sz="2400" dirty="0"/>
              <a:t>中的第</a:t>
            </a:r>
            <a:r>
              <a:rPr lang="en-US" altLang="zh-CN" sz="2400" dirty="0"/>
              <a:t>105</a:t>
            </a:r>
            <a:r>
              <a:rPr lang="zh-CN" altLang="en-US" sz="2400" dirty="0"/>
              <a:t>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取消注释，并在</a:t>
            </a:r>
            <a:r>
              <a:rPr lang="en-US" altLang="zh-CN" sz="2400" dirty="0"/>
              <a:t>””</a:t>
            </a:r>
            <a:r>
              <a:rPr lang="zh-CN" altLang="en-US" sz="2400" dirty="0"/>
              <a:t>中输入新的</a:t>
            </a:r>
            <a:r>
              <a:rPr lang="en-US" altLang="zh-CN" sz="2400" dirty="0"/>
              <a:t>prompt</a:t>
            </a:r>
            <a:r>
              <a:rPr lang="zh-CN" altLang="en-US" sz="2400" dirty="0"/>
              <a:t>即可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AEF712-4E7C-1AFC-B7C0-90580C3D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929" y="3822645"/>
            <a:ext cx="7387681" cy="277241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81030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DFC0D-DCF0-757D-B70E-AE57DAEC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9E6DE4-1033-7EAF-98DD-997A584F859C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三步需求点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——RAG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实现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690BF9D-ADE0-8AC1-AC2A-EBE3A015715E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E5004771-86FE-B5CA-2350-ED6E266E6F8F}"/>
              </a:ext>
            </a:extLst>
          </p:cNvPr>
          <p:cNvSpPr txBox="1"/>
          <p:nvPr/>
        </p:nvSpPr>
        <p:spPr>
          <a:xfrm>
            <a:off x="520700" y="1423156"/>
            <a:ext cx="7854950" cy="368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在</a:t>
            </a:r>
            <a:r>
              <a:rPr lang="en-US" altLang="zh-CN" sz="2400" dirty="0"/>
              <a:t>`</a:t>
            </a:r>
            <a:r>
              <a:rPr lang="en-US" altLang="zh-CN" sz="2400" dirty="0" err="1">
                <a:highlight>
                  <a:srgbClr val="C0C0C0"/>
                </a:highlight>
              </a:rPr>
              <a:t>rag_service.py</a:t>
            </a:r>
            <a:r>
              <a:rPr lang="en-US" altLang="zh-CN" sz="2400" dirty="0"/>
              <a:t>`</a:t>
            </a:r>
            <a:r>
              <a:rPr lang="zh-CN" altLang="en-US" sz="2400" dirty="0"/>
              <a:t>中实现：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1. </a:t>
            </a:r>
            <a:r>
              <a:rPr lang="zh-CN" altLang="en-US" sz="2400" dirty="0"/>
              <a:t>构建规范知识库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实现相似度检索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3. </a:t>
            </a:r>
            <a:r>
              <a:rPr lang="zh-CN" altLang="en-US" sz="2400" dirty="0"/>
              <a:t>增强</a:t>
            </a:r>
            <a:r>
              <a:rPr lang="en-US" altLang="zh-CN" sz="2400" dirty="0"/>
              <a:t>AI</a:t>
            </a:r>
            <a:r>
              <a:rPr lang="zh-CN" altLang="en-US" sz="2400" dirty="0"/>
              <a:t>分析能力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具体请移步该文件中的</a:t>
            </a:r>
            <a:r>
              <a:rPr lang="en-US" altLang="zh-CN" sz="2400" dirty="0"/>
              <a:t>TODO</a:t>
            </a:r>
            <a:r>
              <a:rPr lang="zh-CN" altLang="en-US" sz="2400" dirty="0"/>
              <a:t>注释和实现思路。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38552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E7F4-FA8C-1C2F-7497-75FFCC82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9B0DB2-6B30-55ED-C820-364851B20DD9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三步需求点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——Agent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实现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208903F-9950-1625-1CEF-0A63731AFA52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F43D7DA-9920-5BFB-14C8-8858A4D0CD38}"/>
              </a:ext>
            </a:extLst>
          </p:cNvPr>
          <p:cNvSpPr txBox="1"/>
          <p:nvPr/>
        </p:nvSpPr>
        <p:spPr>
          <a:xfrm>
            <a:off x="520700" y="1423156"/>
            <a:ext cx="7854950" cy="3683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参考</a:t>
            </a:r>
            <a:r>
              <a:rPr lang="en-US" altLang="zh-CN" sz="2400" dirty="0"/>
              <a:t>`</a:t>
            </a:r>
            <a:r>
              <a:rPr lang="en-US" altLang="zh-CN" sz="2400" dirty="0" err="1">
                <a:highlight>
                  <a:srgbClr val="C0C0C0"/>
                </a:highlight>
              </a:rPr>
              <a:t>readme_how_to_make_agent.txt</a:t>
            </a:r>
            <a:r>
              <a:rPr lang="en-US" altLang="zh-CN" sz="2400" dirty="0"/>
              <a:t>`</a:t>
            </a:r>
            <a:r>
              <a:rPr lang="zh-CN" altLang="en-US" sz="2400" dirty="0"/>
              <a:t>文档，实现：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1. </a:t>
            </a:r>
            <a:r>
              <a:rPr lang="en-US" altLang="zh-CN" sz="2400" dirty="0" err="1"/>
              <a:t>ReAct</a:t>
            </a:r>
            <a:r>
              <a:rPr lang="zh-CN" altLang="en-US" sz="2400" dirty="0"/>
              <a:t>模式</a:t>
            </a:r>
            <a:r>
              <a:rPr lang="en-US" altLang="zh-CN" sz="2400" dirty="0"/>
              <a:t>Agent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2. </a:t>
            </a:r>
            <a:r>
              <a:rPr lang="en-US" altLang="zh-CN" sz="2400" dirty="0" err="1"/>
              <a:t>LangChain</a:t>
            </a:r>
            <a:r>
              <a:rPr lang="en-US" altLang="zh-CN" sz="2400" dirty="0"/>
              <a:t> Agent</a:t>
            </a:r>
          </a:p>
          <a:p>
            <a:pPr>
              <a:lnSpc>
                <a:spcPct val="200000"/>
              </a:lnSpc>
            </a:pPr>
            <a:r>
              <a:rPr lang="en-US" altLang="zh-CN" sz="2400" dirty="0"/>
              <a:t>3. </a:t>
            </a:r>
            <a:r>
              <a:rPr lang="zh-CN" altLang="en-US" sz="2400" dirty="0"/>
              <a:t>多</a:t>
            </a:r>
            <a:r>
              <a:rPr lang="en-US" altLang="zh-CN" sz="2400" dirty="0"/>
              <a:t>Agent</a:t>
            </a:r>
            <a:r>
              <a:rPr lang="zh-CN" altLang="en-US" sz="2400" dirty="0"/>
              <a:t>协作系统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请发挥自己的创意力实现！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2780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D7C3-7DF5-50CF-11EF-602C7693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5A8184-00DB-A377-223B-E924F8F222EE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个性化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品牌设计与色彩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4FE4F75-851E-E694-1074-727686759EC9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6FB2FFD-0F3E-C9E0-6597-6D544DA7658B}"/>
              </a:ext>
            </a:extLst>
          </p:cNvPr>
          <p:cNvSpPr txBox="1"/>
          <p:nvPr/>
        </p:nvSpPr>
        <p:spPr>
          <a:xfrm>
            <a:off x="412750" y="1385056"/>
            <a:ext cx="10566400" cy="5160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你可以自行设计产品的名称 </a:t>
            </a:r>
            <a:r>
              <a:rPr lang="en-US" altLang="zh-CN" sz="2400" dirty="0"/>
              <a:t>or logo</a:t>
            </a:r>
            <a:r>
              <a:rPr lang="zh-CN" altLang="en-US" sz="2400" dirty="0"/>
              <a:t>，可以在网页展示</a:t>
            </a:r>
            <a:endParaRPr lang="en-US" altLang="zh-CN" sz="2400" dirty="0"/>
          </a:p>
          <a:p>
            <a:pPr lvl="1">
              <a:lnSpc>
                <a:spcPct val="200000"/>
              </a:lnSpc>
            </a:pPr>
            <a:r>
              <a:rPr lang="zh-CN" altLang="en-US" sz="2400" u="sng" dirty="0"/>
              <a:t>如何实现？</a:t>
            </a:r>
            <a:endParaRPr lang="en-US" altLang="zh-CN" sz="2400" u="sng" dirty="0"/>
          </a:p>
          <a:p>
            <a:pPr lvl="1">
              <a:lnSpc>
                <a:spcPct val="200000"/>
              </a:lnSpc>
            </a:pPr>
            <a:r>
              <a:rPr lang="en-US" altLang="zh-CN" sz="2400" dirty="0"/>
              <a:t>&gt; </a:t>
            </a:r>
            <a:r>
              <a:rPr lang="zh-CN" altLang="en-US" sz="2400" dirty="0"/>
              <a:t>打开文件夹</a:t>
            </a:r>
            <a:r>
              <a:rPr lang="en-US" altLang="zh-CN" sz="2400" dirty="0"/>
              <a:t>templates</a:t>
            </a:r>
            <a:r>
              <a:rPr lang="zh-CN" altLang="en-US" sz="2400" dirty="0"/>
              <a:t>里的</a:t>
            </a:r>
            <a:r>
              <a:rPr lang="en-US" altLang="zh-CN" sz="2400" dirty="0" err="1"/>
              <a:t>index.html</a:t>
            </a:r>
            <a:r>
              <a:rPr lang="zh-CN" altLang="en-US" sz="2400" dirty="0"/>
              <a:t>文件的</a:t>
            </a:r>
            <a:r>
              <a:rPr lang="en-US" altLang="zh-CN" sz="2400" dirty="0"/>
              <a:t>54</a:t>
            </a:r>
            <a:r>
              <a:rPr lang="zh-CN" altLang="en-US" sz="2400" dirty="0"/>
              <a:t>行，</a:t>
            </a:r>
            <a:endParaRPr lang="en-US" altLang="zh-CN" sz="2400" dirty="0"/>
          </a:p>
          <a:p>
            <a:pPr lvl="1">
              <a:lnSpc>
                <a:spcPct val="200000"/>
              </a:lnSpc>
            </a:pPr>
            <a:r>
              <a:rPr lang="en-US" altLang="zh-CN" sz="2400" dirty="0"/>
              <a:t>   </a:t>
            </a:r>
            <a:r>
              <a:rPr lang="zh-CN" altLang="en-US" sz="2400" dirty="0"/>
              <a:t>将</a:t>
            </a:r>
            <a:r>
              <a:rPr lang="en-US" altLang="zh-CN" sz="2400" dirty="0"/>
              <a:t>CodePrism</a:t>
            </a:r>
            <a:r>
              <a:rPr lang="zh-CN" altLang="en-US" sz="2400" dirty="0"/>
              <a:t>修改为自己团队产品的名称即可</a:t>
            </a:r>
            <a:endParaRPr lang="en-US" altLang="zh-CN" sz="2400" dirty="0"/>
          </a:p>
          <a:p>
            <a:pPr lvl="1">
              <a:lnSpc>
                <a:spcPct val="200000"/>
              </a:lnSpc>
            </a:pPr>
            <a:r>
              <a:rPr lang="en-US" altLang="zh-CN" sz="2400" dirty="0"/>
              <a:t>&gt; </a:t>
            </a:r>
            <a:r>
              <a:rPr lang="zh-CN" altLang="en-US" sz="2400" dirty="0"/>
              <a:t>如果画了很好看的背景</a:t>
            </a:r>
            <a:r>
              <a:rPr lang="en-US" altLang="zh-CN" sz="2400" dirty="0"/>
              <a:t>logo</a:t>
            </a:r>
            <a:r>
              <a:rPr lang="zh-CN" altLang="en-US" sz="2400" dirty="0"/>
              <a:t>图，也可以将</a:t>
            </a:r>
            <a:r>
              <a:rPr lang="en-US" altLang="zh-CN" sz="2400" dirty="0"/>
              <a:t>54</a:t>
            </a:r>
            <a:r>
              <a:rPr lang="zh-CN" altLang="en-US" sz="2400" dirty="0"/>
              <a:t>行注释，</a:t>
            </a:r>
            <a:r>
              <a:rPr lang="en-US" altLang="zh-CN" sz="2400" dirty="0"/>
              <a:t>52</a:t>
            </a:r>
            <a:r>
              <a:rPr lang="zh-CN" altLang="en-US" sz="2400" dirty="0"/>
              <a:t>行取消注释</a:t>
            </a:r>
            <a:endParaRPr lang="en-US" altLang="zh-CN" sz="2400" dirty="0"/>
          </a:p>
          <a:p>
            <a:pPr lvl="1">
              <a:lnSpc>
                <a:spcPct val="200000"/>
              </a:lnSpc>
            </a:pPr>
            <a:r>
              <a:rPr lang="zh-CN" altLang="en-US" sz="2400" dirty="0"/>
              <a:t>   再将</a:t>
            </a:r>
            <a:r>
              <a:rPr lang="en-US" altLang="zh-CN" sz="2400" dirty="0"/>
              <a:t>static</a:t>
            </a:r>
            <a:r>
              <a:rPr lang="zh-CN" altLang="en-US" sz="2400" dirty="0"/>
              <a:t>文件夹中的</a:t>
            </a:r>
            <a:r>
              <a:rPr lang="en-US" altLang="zh-CN" sz="2400" dirty="0" err="1"/>
              <a:t>logo.png</a:t>
            </a:r>
            <a:r>
              <a:rPr lang="zh-CN" altLang="en-US" sz="2400" dirty="0"/>
              <a:t>换成自己团队的</a:t>
            </a:r>
            <a:r>
              <a:rPr lang="en-US" altLang="zh-CN" sz="2400" dirty="0" err="1"/>
              <a:t>logo.png</a:t>
            </a:r>
            <a:endParaRPr lang="en-US" altLang="zh-CN" sz="2400" dirty="0"/>
          </a:p>
          <a:p>
            <a:pPr lvl="1">
              <a:lnSpc>
                <a:spcPct val="200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注释和取消注释就是选中那几行再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ctr+/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即可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07C4F0-A79B-CA1E-B3EA-16D786433F05}"/>
              </a:ext>
            </a:extLst>
          </p:cNvPr>
          <p:cNvPicPr>
            <a:picLocks/>
          </p:cNvPicPr>
          <p:nvPr/>
        </p:nvPicPr>
        <p:blipFill>
          <a:blip r:embed="rId2"/>
          <a:srcRect r="35672"/>
          <a:stretch>
            <a:fillRect/>
          </a:stretch>
        </p:blipFill>
        <p:spPr>
          <a:xfrm>
            <a:off x="7962900" y="1231177"/>
            <a:ext cx="4133850" cy="1372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7063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D1AA5-5D5D-97BD-07EB-F959B232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0ACE71-4F1F-C167-97EB-80C9A0852EF5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个性化</a:t>
            </a: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——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品牌设计与色彩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FE578B1-4BCC-3570-2A93-616110632375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61DD7B7-5D5B-4464-8540-8BE6125D3D40}"/>
              </a:ext>
            </a:extLst>
          </p:cNvPr>
          <p:cNvSpPr txBox="1"/>
          <p:nvPr/>
        </p:nvSpPr>
        <p:spPr>
          <a:xfrm>
            <a:off x="250826" y="1035566"/>
            <a:ext cx="11601450" cy="5160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你也可以自行更改界面的配色方案。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本项目框架提供了</a:t>
            </a:r>
            <a:r>
              <a:rPr lang="en-US" altLang="zh-CN" sz="2400" dirty="0"/>
              <a:t>5</a:t>
            </a:r>
            <a:r>
              <a:rPr lang="zh-CN" altLang="en-US" sz="2400" dirty="0"/>
              <a:t>套基础已有方案（黑白紫绿橙）和</a:t>
            </a:r>
            <a:r>
              <a:rPr lang="en-US" altLang="zh-CN" sz="2400" dirty="0"/>
              <a:t>1</a:t>
            </a:r>
            <a:r>
              <a:rPr lang="zh-CN" altLang="en-US" sz="2400" dirty="0"/>
              <a:t>套自行设定方案。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具体位置在</a:t>
            </a:r>
            <a:r>
              <a:rPr lang="en-US" altLang="zh-CN" sz="2400" dirty="0"/>
              <a:t>static</a:t>
            </a:r>
            <a:r>
              <a:rPr lang="zh-CN" altLang="en-US" sz="2400" dirty="0"/>
              <a:t>文件夹的</a:t>
            </a:r>
            <a:r>
              <a:rPr lang="en-US" altLang="zh-CN" sz="2400" dirty="0" err="1"/>
              <a:t>css</a:t>
            </a:r>
            <a:r>
              <a:rPr lang="zh-CN" altLang="en-US" sz="2400" dirty="0"/>
              <a:t>文件夹的</a:t>
            </a:r>
            <a:r>
              <a:rPr lang="en-US" altLang="zh-CN" sz="2400" dirty="0" err="1"/>
              <a:t>style.css</a:t>
            </a:r>
            <a:r>
              <a:rPr lang="zh-CN" altLang="en-US" sz="2400" dirty="0"/>
              <a:t>文件中，第</a:t>
            </a:r>
            <a:r>
              <a:rPr lang="en-US" altLang="zh-CN" sz="2400" dirty="0"/>
              <a:t>1</a:t>
            </a:r>
            <a:r>
              <a:rPr lang="zh-CN" altLang="en-US" sz="2400" dirty="0"/>
              <a:t>行</a:t>
            </a:r>
            <a:r>
              <a:rPr lang="en-US" altLang="zh-CN" sz="2400" dirty="0"/>
              <a:t>-</a:t>
            </a:r>
            <a:r>
              <a:rPr lang="zh-CN" altLang="en-US" sz="2400" dirty="0"/>
              <a:t>第</a:t>
            </a:r>
            <a:r>
              <a:rPr lang="en-US" altLang="zh-CN" sz="2400" dirty="0"/>
              <a:t>120</a:t>
            </a:r>
            <a:r>
              <a:rPr lang="zh-CN" altLang="en-US" sz="2400" dirty="0"/>
              <a:t>行均是配色方案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如果要更改配色方案，选中未被注释的行，注释掉它；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zh-CN" altLang="en-US" sz="2400" dirty="0"/>
              <a:t>再选中想要的配色方案对应的一系列行，取消注释它。</a:t>
            </a:r>
            <a:endParaRPr lang="en-US" altLang="zh-CN" sz="2400" dirty="0"/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|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也可以尝试大改前端文件来做整体美化。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200000"/>
              </a:lnSpc>
            </a:pP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3ED10C-3200-F28E-CC1A-7685A0953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49" y="4674501"/>
            <a:ext cx="4329997" cy="20035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55020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A03E-AFAC-6438-3716-52272A5A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9D6929-0BD1-F385-94DD-B9134D2F9D33}"/>
              </a:ext>
            </a:extLst>
          </p:cNvPr>
          <p:cNvSpPr txBox="1"/>
          <p:nvPr/>
        </p:nvSpPr>
        <p:spPr>
          <a:xfrm>
            <a:off x="365124" y="31721"/>
            <a:ext cx="9153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  <a:cs typeface="Cascadia Code SemiBold" panose="020B0609020000020004" pitchFamily="49" charset="0"/>
              </a:rPr>
              <a:t>作业要求</a:t>
            </a:r>
            <a:endParaRPr lang="en-US" altLang="zh-CN" sz="5400" dirty="0">
              <a:latin typeface="黑体" panose="02010609060101010101" pitchFamily="49" charset="-122"/>
              <a:ea typeface="黑体" panose="02010609060101010101" pitchFamily="49" charset="-122"/>
              <a:cs typeface="Cascadia Code SemiBold" panose="020B0609020000020004" pitchFamily="49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9F20ACE-9D3E-8743-5D7C-3910465E84BF}"/>
              </a:ext>
            </a:extLst>
          </p:cNvPr>
          <p:cNvCxnSpPr>
            <a:cxnSpLocks/>
          </p:cNvCxnSpPr>
          <p:nvPr/>
        </p:nvCxnSpPr>
        <p:spPr>
          <a:xfrm>
            <a:off x="0" y="995308"/>
            <a:ext cx="91884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55B3137-94FC-D31D-491D-62C6D1BB08CF}"/>
              </a:ext>
            </a:extLst>
          </p:cNvPr>
          <p:cNvSpPr txBox="1"/>
          <p:nvPr/>
        </p:nvSpPr>
        <p:spPr>
          <a:xfrm>
            <a:off x="250826" y="1175266"/>
            <a:ext cx="11601450" cy="442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/>
              <a:t>最终作业验收会在最后课上现场汇报验收，每组</a:t>
            </a:r>
            <a:r>
              <a:rPr lang="en-US" altLang="zh-CN" sz="2400" dirty="0" err="1"/>
              <a:t>15min</a:t>
            </a:r>
            <a:r>
              <a:rPr lang="zh-CN" altLang="en-US" sz="2400" dirty="0"/>
              <a:t>。由以下部分构成</a:t>
            </a:r>
            <a:endParaRPr lang="en-US" altLang="zh-CN" sz="2400" dirty="0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altLang="zh-CN" sz="2400" dirty="0"/>
              <a:t>PPT</a:t>
            </a:r>
            <a:r>
              <a:rPr lang="zh-CN" altLang="en-US" sz="2400" dirty="0"/>
              <a:t>演示：应用背景、项目整体介绍、各需求实现思路与核心代码分析 </a:t>
            </a:r>
            <a:r>
              <a:rPr lang="en-US" altLang="zh-CN" sz="2400" dirty="0"/>
              <a:t>[</a:t>
            </a:r>
            <a:r>
              <a:rPr lang="en-US" altLang="zh-CN" sz="2400" dirty="0" err="1"/>
              <a:t>6min</a:t>
            </a:r>
            <a:r>
              <a:rPr lang="en-US" altLang="zh-CN" sz="2400" dirty="0"/>
              <a:t>]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/>
              <a:t>系统演示：实际运行项目并且演示一次完整的流程 </a:t>
            </a:r>
            <a:r>
              <a:rPr lang="en-US" altLang="zh-CN" sz="2400" dirty="0"/>
              <a:t>[</a:t>
            </a:r>
            <a:r>
              <a:rPr lang="en-US" altLang="zh-CN" sz="2400" dirty="0" err="1"/>
              <a:t>1min</a:t>
            </a:r>
            <a:r>
              <a:rPr lang="en-US" altLang="zh-CN" sz="2400" dirty="0"/>
              <a:t>]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/>
              <a:t>现场验收：评委组拿</a:t>
            </a:r>
            <a:r>
              <a:rPr lang="en-US" altLang="zh-CN" sz="2400" dirty="0"/>
              <a:t>5</a:t>
            </a:r>
            <a:r>
              <a:rPr lang="zh-CN" altLang="en-US" sz="2400" dirty="0"/>
              <a:t>个未公开过的测例，看实际运行结果是否符合预期 </a:t>
            </a:r>
            <a:r>
              <a:rPr lang="en-US" altLang="zh-CN" sz="2400" dirty="0"/>
              <a:t>[</a:t>
            </a:r>
            <a:r>
              <a:rPr lang="en-US" altLang="zh-CN" sz="2400" dirty="0" err="1"/>
              <a:t>3min</a:t>
            </a:r>
            <a:r>
              <a:rPr lang="en-US" altLang="zh-CN" sz="2400" dirty="0"/>
              <a:t>]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/>
              <a:t>提问打分：由两位助教和老师和其他两组的同学进行细节提问打分 </a:t>
            </a:r>
            <a:r>
              <a:rPr lang="en-US" altLang="zh-CN" sz="2400" dirty="0"/>
              <a:t>[</a:t>
            </a:r>
            <a:r>
              <a:rPr lang="en-US" altLang="zh-CN" sz="2400" dirty="0" err="1"/>
              <a:t>5min</a:t>
            </a:r>
            <a:r>
              <a:rPr lang="en-US" altLang="zh-CN" sz="2400" dirty="0"/>
              <a:t>]</a:t>
            </a:r>
          </a:p>
          <a:p>
            <a:pPr>
              <a:lnSpc>
                <a:spcPct val="20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110373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6FC3-CFE4-137C-8FA5-64C0F902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DABB923-8372-68FC-85BE-401D1BFE34C4}"/>
              </a:ext>
            </a:extLst>
          </p:cNvPr>
          <p:cNvSpPr/>
          <p:nvPr/>
        </p:nvSpPr>
        <p:spPr>
          <a:xfrm>
            <a:off x="-381000" y="-292100"/>
            <a:ext cx="13214350" cy="7442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DDE567-9E32-99E7-5A0A-30A29D2B4C70}"/>
              </a:ext>
            </a:extLst>
          </p:cNvPr>
          <p:cNvSpPr txBox="1"/>
          <p:nvPr/>
        </p:nvSpPr>
        <p:spPr>
          <a:xfrm>
            <a:off x="1981199" y="1468367"/>
            <a:ext cx="9328151" cy="3921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88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祝大家顺利完成</a:t>
            </a:r>
            <a:endParaRPr lang="en-US" altLang="zh-CN" sz="88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endParaRPr lang="en-US" altLang="zh-CN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r">
              <a:lnSpc>
                <a:spcPct val="20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助教：曾佳宝、曹烨</a:t>
            </a:r>
            <a:endParaRPr lang="en-US" altLang="zh-CN" sz="1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3396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1687</Words>
  <Application>Microsoft Office PowerPoint</Application>
  <PresentationFormat>宽屏</PresentationFormat>
  <Paragraphs>133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黑体</vt:lpstr>
      <vt:lpstr>Arial</vt:lpstr>
      <vt:lpstr>Cascadia Code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caoye541@gmail.com</dc:creator>
  <cp:lastModifiedBy>caoye541@gmail.com</cp:lastModifiedBy>
  <cp:revision>3</cp:revision>
  <dcterms:created xsi:type="dcterms:W3CDTF">2025-11-23T13:00:27Z</dcterms:created>
  <dcterms:modified xsi:type="dcterms:W3CDTF">2025-11-23T17:51:34Z</dcterms:modified>
</cp:coreProperties>
</file>